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3200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3D0A5A"/>
          </a:solidFill>
          <a:ln w="12700">
            <a:solidFill>
              <a:srgbClr val="3D0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2926080"/>
            <a:ext cx="2926080" cy="2926080"/>
          </a:xfrm>
          <a:prstGeom prst="ellipse">
            <a:avLst/>
          </a:prstGeom>
          <a:solidFill>
            <a:srgbClr val="3D0A5A"/>
          </a:solidFill>
          <a:ln w="12700">
            <a:solidFill>
              <a:srgbClr val="3D0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291840"/>
            <a:ext cx="1828800" cy="1828800"/>
          </a:xfrm>
          <a:prstGeom prst="ellipse">
            <a:avLst/>
          </a:prstGeom>
          <a:solidFill>
            <a:srgbClr val="350958"/>
          </a:solidFill>
          <a:ln w="12700">
            <a:solidFill>
              <a:srgbClr val="35095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6002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SecureAuth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731520" y="239572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Portal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291840" y="3017520"/>
            <a:ext cx="25603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1272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 ·  Scalable  ·  Sovereign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5661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NDIS Branch  |  April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4023360"/>
            <a:ext cx="2743200" cy="329184"/>
          </a:xfrm>
          <a:prstGeom prst="rect">
            <a:avLst/>
          </a:prstGeom>
          <a:solidFill>
            <a:srgbClr val="3D0A5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40690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40690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Accessible Design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Disability Insurance Scheme  ·  Identity &amp; Access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NDIS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64592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0E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98448"/>
            <a:ext cx="64008" cy="9144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1517904"/>
            <a:ext cx="475488" cy="475488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1517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1371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1719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facing NDIS identity management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298448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298448"/>
            <a:ext cx="64008" cy="9144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55464" y="1517904"/>
            <a:ext cx="475488" cy="475488"/>
          </a:xfrm>
          <a:prstGeom prst="ellipse">
            <a:avLst/>
          </a:prstGeom>
          <a:solidFill>
            <a:srgbClr val="6D2077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1517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58968" y="1371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58968" y="1719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SecureAuth is and how it solves the problem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377440"/>
            <a:ext cx="64008" cy="914400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064" y="2596896"/>
            <a:ext cx="475488" cy="475488"/>
          </a:xfrm>
          <a:prstGeom prst="ellipse">
            <a:avLst/>
          </a:prstGeom>
          <a:solidFill>
            <a:srgbClr val="4A0E6B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24505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279806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components working together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377440"/>
            <a:ext cx="64008" cy="914400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29" name="Shape 27"/>
          <p:cNvSpPr/>
          <p:nvPr/>
        </p:nvSpPr>
        <p:spPr>
          <a:xfrm>
            <a:off x="4855464" y="2596896"/>
            <a:ext cx="475488" cy="475488"/>
          </a:xfrm>
          <a:prstGeom prst="ellipse">
            <a:avLst/>
          </a:prstGeom>
          <a:solidFill>
            <a:srgbClr val="8B2FC9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2596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58968" y="24505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58968" y="279806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New User and Existing User flows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45643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456432"/>
            <a:ext cx="64008" cy="9144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" y="3675888"/>
            <a:ext cx="475488" cy="475488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" y="3675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15568" y="352958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Value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15568" y="38770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benefits, and NDIS outcomes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45643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456432"/>
            <a:ext cx="64008" cy="9144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41" name="Shape 39"/>
          <p:cNvSpPr/>
          <p:nvPr/>
        </p:nvSpPr>
        <p:spPr>
          <a:xfrm>
            <a:off x="4855464" y="3675888"/>
            <a:ext cx="475488" cy="475488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42" name="Text 40"/>
          <p:cNvSpPr/>
          <p:nvPr/>
        </p:nvSpPr>
        <p:spPr>
          <a:xfrm>
            <a:off x="4855464" y="3675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58968" y="352958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58968" y="38770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open discussion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0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The Problem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50876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Identity Challenge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NDIS participants and providers face significant friction and security gaps in the current onboarding process.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98080" y="502920"/>
            <a:ext cx="1280160" cy="1280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0040" y="1600200"/>
            <a:ext cx="4114800" cy="1207008"/>
          </a:xfrm>
          <a:prstGeom prst="rect">
            <a:avLst/>
          </a:prstGeom>
          <a:solidFill>
            <a:srgbClr val="3D1A00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600200"/>
            <a:ext cx="64008" cy="1207008"/>
          </a:xfrm>
          <a:prstGeom prst="rect">
            <a:avLst/>
          </a:prstGeom>
          <a:solidFill>
            <a:srgbClr val="FDE6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82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33272" y="16733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Passwordless Path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33272" y="20391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rely on weak passwords with no structured pathway to FIDO2 keys or strong MFA.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09160" y="1600200"/>
            <a:ext cx="4114800" cy="1207008"/>
          </a:xfrm>
          <a:prstGeom prst="rect">
            <a:avLst/>
          </a:prstGeom>
          <a:solidFill>
            <a:srgbClr val="3D0A2E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600200"/>
            <a:ext cx="64008" cy="1207008"/>
          </a:xfrm>
          <a:prstGeom prst="rect">
            <a:avLst/>
          </a:prstGeom>
          <a:solidFill>
            <a:srgbClr val="FBCFE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2821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22392" y="16733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Onboarding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22392" y="20391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manually provision accounts, creating delays, errors, and security risks.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20040" y="2971800"/>
            <a:ext cx="4114800" cy="1207008"/>
          </a:xfrm>
          <a:prstGeom prst="rect">
            <a:avLst/>
          </a:prstGeom>
          <a:solidFill>
            <a:srgbClr val="3D0A0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971800"/>
            <a:ext cx="64008" cy="1207008"/>
          </a:xfrm>
          <a:prstGeom prst="rect">
            <a:avLst/>
          </a:prstGeom>
          <a:solidFill>
            <a:srgbClr val="FCA5A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9981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3272" y="30449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33272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Temporary Access Pass framework means users cannot securely bootstrap new auth methods.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709160" y="2971800"/>
            <a:ext cx="4114800" cy="1207008"/>
          </a:xfrm>
          <a:prstGeom prst="rect">
            <a:avLst/>
          </a:prstGeom>
          <a:solidFill>
            <a:srgbClr val="0A2E1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09160" y="2971800"/>
            <a:ext cx="64008" cy="1207008"/>
          </a:xfrm>
          <a:prstGeom prst="rect">
            <a:avLst/>
          </a:prstGeom>
          <a:solidFill>
            <a:srgbClr val="BBF7D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099816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22392" y="30449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22392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data siloed across Entra ID, databases, and apps with no unified writeback mechanism.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NDIS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37160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0E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SecureAuth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8503920" cy="914400"/>
          </a:xfrm>
          <a:prstGeom prst="rect">
            <a:avLst/>
          </a:prstGeom>
          <a:solidFill>
            <a:srgbClr val="6D2077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850392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23444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identity verification and passwordless onboarding portal — automating email verification, credential authentication, email writeback, TAP generation, and FIDO2 security key registration in a single accessible government-grade flow.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12848"/>
            <a:ext cx="64008" cy="1078992"/>
          </a:xfrm>
          <a:prstGeom prst="rect">
            <a:avLst/>
          </a:prstGeom>
          <a:solidFill>
            <a:srgbClr val="8B2FC9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32257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78408" y="228600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78408" y="26243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email check against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directory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72968" y="2212848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72968" y="2212848"/>
            <a:ext cx="64008" cy="1078992"/>
          </a:xfrm>
          <a:prstGeom prst="rect">
            <a:avLst/>
          </a:prstGeom>
          <a:solidFill>
            <a:srgbClr val="6D2077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322576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31336" y="228600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831336" y="26243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validated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Supabase credentials store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025896" y="2212848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25896" y="2212848"/>
            <a:ext cx="64008" cy="1078992"/>
          </a:xfrm>
          <a:prstGeom prst="rect">
            <a:avLst/>
          </a:prstGeom>
          <a:solidFill>
            <a:srgbClr val="8B2FC9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322576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84264" y="228600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for Existing Users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684264" y="26243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MSAL popup — one-click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for returning users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3419856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20040" y="3419856"/>
            <a:ext cx="64008" cy="1078992"/>
          </a:xfrm>
          <a:prstGeom prst="rect">
            <a:avLst/>
          </a:prstGeom>
          <a:solidFill>
            <a:srgbClr val="92400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52958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78408" y="3493008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Access Pass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78408" y="38313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TAP generation via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172968" y="3419856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172968" y="3419856"/>
            <a:ext cx="64008" cy="1078992"/>
          </a:xfrm>
          <a:prstGeom prst="rect">
            <a:avLst/>
          </a:prstGeom>
          <a:solidFill>
            <a:srgbClr val="065F46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529584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831336" y="3493008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Registration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831336" y="38313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security key setup via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Security Info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025896" y="3419856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025896" y="3419856"/>
            <a:ext cx="64008" cy="1078992"/>
          </a:xfrm>
          <a:prstGeom prst="rect">
            <a:avLst/>
          </a:prstGeom>
          <a:solidFill>
            <a:srgbClr val="4A0E6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529584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84264" y="3493008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Infrastructure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684264" y="38313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+ GitHub Pages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Australia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Architecture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64592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0E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Architecture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199339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1993392" cy="64008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1371600"/>
            <a:ext cx="804672" cy="804672"/>
          </a:xfrm>
          <a:prstGeom prst="ellipse">
            <a:avLst/>
          </a:prstGeom>
          <a:solidFill>
            <a:srgbClr val="8B2FC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417320"/>
            <a:ext cx="713232" cy="7132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2249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25237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Frontend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(index.html)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487168" y="1207008"/>
            <a:ext cx="199339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207008"/>
            <a:ext cx="1993392" cy="64008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17" name="Shape 14"/>
          <p:cNvSpPr/>
          <p:nvPr/>
        </p:nvSpPr>
        <p:spPr>
          <a:xfrm>
            <a:off x="3072384" y="1371600"/>
            <a:ext cx="804672" cy="804672"/>
          </a:xfrm>
          <a:prstGeom prst="ellipse">
            <a:avLst/>
          </a:prstGeom>
          <a:solidFill>
            <a:srgbClr val="6D207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417320"/>
            <a:ext cx="713232" cy="7132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78608" y="2249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78608" y="25237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Proxy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(worker.js)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700016" y="1207008"/>
            <a:ext cx="199339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00016" y="1207008"/>
            <a:ext cx="1993392" cy="640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23" name="Shape 19"/>
          <p:cNvSpPr/>
          <p:nvPr/>
        </p:nvSpPr>
        <p:spPr>
          <a:xfrm>
            <a:off x="5285232" y="1371600"/>
            <a:ext cx="804672" cy="804672"/>
          </a:xfrm>
          <a:prstGeom prst="ellipse">
            <a:avLst/>
          </a:prstGeom>
          <a:solidFill>
            <a:srgbClr val="4A0E6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417320"/>
            <a:ext cx="713232" cy="7132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91456" y="2249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791456" y="25237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TAP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· Writeback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912864" y="1207008"/>
            <a:ext cx="1993392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12864" y="1207008"/>
            <a:ext cx="1993392" cy="64008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29" name="Shape 24"/>
          <p:cNvSpPr/>
          <p:nvPr/>
        </p:nvSpPr>
        <p:spPr>
          <a:xfrm>
            <a:off x="7498080" y="1371600"/>
            <a:ext cx="804672" cy="804672"/>
          </a:xfrm>
          <a:prstGeom prst="ellipse">
            <a:avLst/>
          </a:prstGeom>
          <a:solidFill>
            <a:srgbClr val="8B2FC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713232" cy="7132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04304" y="2249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004304" y="25237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+ Beta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TAP · FIDO2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2267712" y="1993392"/>
            <a:ext cx="219456" cy="0"/>
          </a:xfrm>
          <a:prstGeom prst="line">
            <a:avLst/>
          </a:prstGeom>
          <a:noFill/>
          <a:ln w="25400">
            <a:solidFill>
              <a:srgbClr val="8B2FC9"/>
            </a:solidFill>
            <a:prstDash val="dash"/>
          </a:ln>
        </p:spPr>
      </p:sp>
      <p:sp>
        <p:nvSpPr>
          <p:cNvPr id="34" name="Text 28"/>
          <p:cNvSpPr/>
          <p:nvPr/>
        </p:nvSpPr>
        <p:spPr>
          <a:xfrm>
            <a:off x="2359152" y="188366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2FC9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480560" y="1993392"/>
            <a:ext cx="219456" cy="0"/>
          </a:xfrm>
          <a:prstGeom prst="line">
            <a:avLst/>
          </a:prstGeom>
          <a:noFill/>
          <a:ln w="25400">
            <a:solidFill>
              <a:srgbClr val="8B2FC9"/>
            </a:solidFill>
            <a:prstDash val="dash"/>
          </a:ln>
        </p:spPr>
      </p:sp>
      <p:sp>
        <p:nvSpPr>
          <p:cNvPr id="36" name="Text 30"/>
          <p:cNvSpPr/>
          <p:nvPr/>
        </p:nvSpPr>
        <p:spPr>
          <a:xfrm>
            <a:off x="4572000" y="188366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2FC9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693408" y="1993392"/>
            <a:ext cx="219456" cy="0"/>
          </a:xfrm>
          <a:prstGeom prst="line">
            <a:avLst/>
          </a:prstGeom>
          <a:noFill/>
          <a:ln w="25400">
            <a:solidFill>
              <a:srgbClr val="8B2FC9"/>
            </a:solidFill>
            <a:prstDash val="dash"/>
          </a:ln>
        </p:spPr>
      </p:sp>
      <p:sp>
        <p:nvSpPr>
          <p:cNvPr id="38" name="Text 32"/>
          <p:cNvSpPr/>
          <p:nvPr/>
        </p:nvSpPr>
        <p:spPr>
          <a:xfrm>
            <a:off x="6784848" y="188366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2FC9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2487168" y="3035808"/>
            <a:ext cx="199339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2487168" y="3035808"/>
            <a:ext cx="1993392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1" name="Shape 35"/>
          <p:cNvSpPr/>
          <p:nvPr/>
        </p:nvSpPr>
        <p:spPr>
          <a:xfrm>
            <a:off x="3072384" y="3200400"/>
            <a:ext cx="804672" cy="804672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104" y="3246120"/>
            <a:ext cx="713232" cy="71323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578608" y="407822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2578608" y="4325112"/>
            <a:ext cx="1810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user_credentials DB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3483864" y="2788920"/>
            <a:ext cx="0" cy="256032"/>
          </a:xfrm>
          <a:prstGeom prst="line">
            <a:avLst/>
          </a:prstGeom>
          <a:noFill/>
          <a:ln w="25400">
            <a:solidFill>
              <a:srgbClr val="065F46"/>
            </a:solidFill>
            <a:prstDash val="dash"/>
          </a:ln>
        </p:spPr>
      </p:sp>
      <p:sp>
        <p:nvSpPr>
          <p:cNvPr id="46" name="Text 39"/>
          <p:cNvSpPr/>
          <p:nvPr/>
        </p:nvSpPr>
        <p:spPr>
          <a:xfrm>
            <a:off x="3364992" y="290779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▼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4754880" y="3127248"/>
            <a:ext cx="256032" cy="146304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48" name="Text 41"/>
          <p:cNvSpPr/>
          <p:nvPr/>
        </p:nvSpPr>
        <p:spPr>
          <a:xfrm>
            <a:off x="5084064" y="30998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Worker (HTTPS, CORS secured)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4754880" y="3447288"/>
            <a:ext cx="256032" cy="146304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50" name="Text 43"/>
          <p:cNvSpPr/>
          <p:nvPr/>
        </p:nvSpPr>
        <p:spPr>
          <a:xfrm>
            <a:off x="5084064" y="34198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→ Microsoft Graph API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4754880" y="3767328"/>
            <a:ext cx="256032" cy="14630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2" name="Text 45"/>
          <p:cNvSpPr/>
          <p:nvPr/>
        </p:nvSpPr>
        <p:spPr>
          <a:xfrm>
            <a:off x="5084064" y="37398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→ Supabase (SQL query)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4754880" y="4041648"/>
            <a:ext cx="4069080" cy="475488"/>
          </a:xfrm>
          <a:prstGeom prst="rect">
            <a:avLst/>
          </a:prstGeom>
          <a:solidFill>
            <a:srgbClr val="6D2077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4133088"/>
            <a:ext cx="256032" cy="256032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5230368" y="411480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are encrypted Cloudflare env vars — never exposed to the browser.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NDIS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28016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0E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User Journey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onboarding — 3 steps to full passwordless setup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2788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17320"/>
            <a:ext cx="2788920" cy="658368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14904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490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2F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1490472"/>
            <a:ext cx="438912" cy="4389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146304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Email Verification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38912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work email address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38912" y="2724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calls Microsoft Graph API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38912" y="32735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confirms user exists in directory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38912" y="38221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unknown emails blocked immediately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099816" y="2953512"/>
            <a:ext cx="91440" cy="91440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21" name="Text 18"/>
          <p:cNvSpPr/>
          <p:nvPr/>
        </p:nvSpPr>
        <p:spPr>
          <a:xfrm>
            <a:off x="3072384" y="280720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2FC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227832" y="1417320"/>
            <a:ext cx="2788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27832" y="1417320"/>
            <a:ext cx="2788920" cy="658368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24" name="Shape 21"/>
          <p:cNvSpPr/>
          <p:nvPr/>
        </p:nvSpPr>
        <p:spPr>
          <a:xfrm>
            <a:off x="3337560" y="14904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3337560" y="1490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D20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90472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913632" y="146304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Credential Login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392424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entered by user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392424" y="2724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queries Supabase user_credentials table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392424" y="32735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Strength attribute retrieved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392424" y="38221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email extracted for writeback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053328" y="2953512"/>
            <a:ext cx="91440" cy="91440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33" name="Text 29"/>
          <p:cNvSpPr/>
          <p:nvPr/>
        </p:nvSpPr>
        <p:spPr>
          <a:xfrm>
            <a:off x="6025896" y="280720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2FC9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6181344" y="1417320"/>
            <a:ext cx="2788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81344" y="1417320"/>
            <a:ext cx="2788920" cy="6583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6" name="Shape 32"/>
          <p:cNvSpPr/>
          <p:nvPr/>
        </p:nvSpPr>
        <p:spPr>
          <a:xfrm>
            <a:off x="6291072" y="14904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3"/>
          <p:cNvSpPr/>
          <p:nvPr/>
        </p:nvSpPr>
        <p:spPr>
          <a:xfrm>
            <a:off x="6291072" y="1490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490472"/>
            <a:ext cx="438912" cy="43891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867144" y="146304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Passwordless Setup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6345936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email written to Entra otherMails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6345936" y="2724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Access Pass generated (60 min)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345936" y="32735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FIDO2 security key registration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6345936" y="38221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registered at aka.ms/mysecurityinfo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solidFill>
            <a:srgbClr val="6D2077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736592"/>
            <a:ext cx="274320" cy="27432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22960" y="470001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Verified identity in Entra ID, personal email linked, FIDO2 security key registered for passwordless sign-in.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0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Existing User Journey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73736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User Journey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users — instant SSO sign-in, then guided FIDO2 key registration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444752"/>
            <a:ext cx="1993392" cy="3017520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44752"/>
            <a:ext cx="1993392" cy="54864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" y="1627632"/>
            <a:ext cx="804672" cy="804672"/>
          </a:xfrm>
          <a:prstGeom prst="ellipse">
            <a:avLst/>
          </a:prstGeom>
          <a:solidFill>
            <a:srgbClr val="8B2FC9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73352"/>
            <a:ext cx="713232" cy="7132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719072" y="1536192"/>
            <a:ext cx="347472" cy="347472"/>
          </a:xfrm>
          <a:prstGeom prst="ellipse">
            <a:avLst/>
          </a:prstGeom>
          <a:solidFill>
            <a:srgbClr val="4A0E6B"/>
          </a:solidFill>
          <a:ln/>
        </p:spPr>
      </p:sp>
      <p:sp>
        <p:nvSpPr>
          <p:cNvPr id="15" name="Text 12"/>
          <p:cNvSpPr/>
          <p:nvPr/>
        </p:nvSpPr>
        <p:spPr>
          <a:xfrm>
            <a:off x="1719072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2F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" y="252374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Microsoft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7472" y="2926080"/>
            <a:ext cx="18105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popup opens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Entra 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67712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450592" y="1444752"/>
            <a:ext cx="1993392" cy="3017520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450592" y="1444752"/>
            <a:ext cx="1993392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Shape 18"/>
          <p:cNvSpPr/>
          <p:nvPr/>
        </p:nvSpPr>
        <p:spPr>
          <a:xfrm>
            <a:off x="3044952" y="1627632"/>
            <a:ext cx="804672" cy="804672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673352"/>
            <a:ext cx="713232" cy="71323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913632" y="1536192"/>
            <a:ext cx="347472" cy="347472"/>
          </a:xfrm>
          <a:prstGeom prst="ellipse">
            <a:avLst/>
          </a:prstGeom>
          <a:solidFill>
            <a:srgbClr val="4A0E6B"/>
          </a:solidFill>
          <a:ln/>
        </p:spPr>
      </p:sp>
      <p:sp>
        <p:nvSpPr>
          <p:cNvPr id="24" name="Text 20"/>
          <p:cNvSpPr/>
          <p:nvPr/>
        </p:nvSpPr>
        <p:spPr>
          <a:xfrm>
            <a:off x="3913632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542032" y="252374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Verified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542032" y="2926080"/>
            <a:ext cx="18105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UPN extracted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Entra 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pre-filled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462272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4645152" y="1444752"/>
            <a:ext cx="1993392" cy="3017520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45152" y="1444752"/>
            <a:ext cx="1993392" cy="54864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0" name="Shape 26"/>
          <p:cNvSpPr/>
          <p:nvPr/>
        </p:nvSpPr>
        <p:spPr>
          <a:xfrm>
            <a:off x="5239512" y="1627632"/>
            <a:ext cx="804672" cy="804672"/>
          </a:xfrm>
          <a:prstGeom prst="ellipse">
            <a:avLst/>
          </a:prstGeom>
          <a:solidFill>
            <a:srgbClr val="6D2077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673352"/>
            <a:ext cx="713232" cy="71323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6108192" y="1536192"/>
            <a:ext cx="347472" cy="347472"/>
          </a:xfrm>
          <a:prstGeom prst="ellipse">
            <a:avLst/>
          </a:prstGeom>
          <a:solidFill>
            <a:srgbClr val="4A0E6B"/>
          </a:solidFill>
          <a:ln/>
        </p:spPr>
      </p:sp>
      <p:sp>
        <p:nvSpPr>
          <p:cNvPr id="33" name="Text 28"/>
          <p:cNvSpPr/>
          <p:nvPr/>
        </p:nvSpPr>
        <p:spPr>
          <a:xfrm>
            <a:off x="6108192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20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736592" y="252374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Check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736592" y="2926080"/>
            <a:ext cx="18105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verified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Supabase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user_credentials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656832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6839712" y="1444752"/>
            <a:ext cx="1993392" cy="3017520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839712" y="1444752"/>
            <a:ext cx="1993392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9" name="Shape 34"/>
          <p:cNvSpPr/>
          <p:nvPr/>
        </p:nvSpPr>
        <p:spPr>
          <a:xfrm>
            <a:off x="7434072" y="1627632"/>
            <a:ext cx="804672" cy="804672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673352"/>
            <a:ext cx="713232" cy="713232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8302752" y="1536192"/>
            <a:ext cx="347472" cy="347472"/>
          </a:xfrm>
          <a:prstGeom prst="ellipse">
            <a:avLst/>
          </a:prstGeom>
          <a:solidFill>
            <a:srgbClr val="4A0E6B"/>
          </a:solidFill>
          <a:ln/>
        </p:spPr>
      </p:sp>
      <p:sp>
        <p:nvSpPr>
          <p:cNvPr id="42" name="Text 36"/>
          <p:cNvSpPr/>
          <p:nvPr/>
        </p:nvSpPr>
        <p:spPr>
          <a:xfrm>
            <a:off x="8302752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931152" y="252374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Registration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931152" y="2926080"/>
            <a:ext cx="18105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TAP then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mysecurityinfo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security key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256032" y="4572000"/>
            <a:ext cx="8631936" cy="512064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4663440"/>
            <a:ext cx="274320" cy="27432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804672" y="462686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SSO automatically verifies identity — existing users skip the manual email check, reducing total login time to under 30 seconds.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NDIS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73736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0E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Passwordless Authentication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70432"/>
            <a:ext cx="4160520" cy="6400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170432"/>
            <a:ext cx="64008" cy="3566160"/>
          </a:xfrm>
          <a:prstGeom prst="rect">
            <a:avLst/>
          </a:prstGeom>
          <a:solidFill>
            <a:srgbClr val="92400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61872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2688" y="12344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Temporary Access Pass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" y="1737360"/>
            <a:ext cx="3749040" cy="841248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173736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spc="300" kern="0" dirty="0">
                <a:solidFill>
                  <a:srgbClr val="9240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A3K9-7XPQ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475488" y="2606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one-time access code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2889504"/>
            <a:ext cx="27432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889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29077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instantly via Microsoft Graph API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310128"/>
            <a:ext cx="27432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33284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60 minutes from time of generation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730752"/>
            <a:ext cx="27432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3749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 — expires after first successful sign-in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151376"/>
            <a:ext cx="27432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151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" y="41696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password or MFA method required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453128" y="2907792"/>
            <a:ext cx="237744" cy="256032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30" name="Text 27"/>
          <p:cNvSpPr/>
          <p:nvPr/>
        </p:nvSpPr>
        <p:spPr>
          <a:xfrm>
            <a:off x="4443984" y="2761488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2FC9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4709160" y="117043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1170432"/>
            <a:ext cx="4160520" cy="64008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33" name="Shape 30"/>
          <p:cNvSpPr/>
          <p:nvPr/>
        </p:nvSpPr>
        <p:spPr>
          <a:xfrm>
            <a:off x="4709160" y="1170432"/>
            <a:ext cx="64008" cy="3566160"/>
          </a:xfrm>
          <a:prstGeom prst="rect">
            <a:avLst/>
          </a:prstGeom>
          <a:solidFill>
            <a:srgbClr val="8B2FC9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261872"/>
            <a:ext cx="384048" cy="38404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40096" y="1234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Register FIDO2 Security Key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846320" y="1828800"/>
            <a:ext cx="320040" cy="320040"/>
          </a:xfrm>
          <a:prstGeom prst="ellipse">
            <a:avLst/>
          </a:prstGeom>
          <a:solidFill>
            <a:srgbClr val="8B2FC9"/>
          </a:solidFill>
          <a:ln/>
        </p:spPr>
      </p:sp>
      <p:sp>
        <p:nvSpPr>
          <p:cNvPr id="37" name="Text 33"/>
          <p:cNvSpPr/>
          <p:nvPr/>
        </p:nvSpPr>
        <p:spPr>
          <a:xfrm>
            <a:off x="484632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266944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TAP code from Step 1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846320" y="2322576"/>
            <a:ext cx="320040" cy="320040"/>
          </a:xfrm>
          <a:prstGeom prst="ellipse">
            <a:avLst/>
          </a:prstGeom>
          <a:solidFill>
            <a:srgbClr val="8B2FC9"/>
          </a:solidFill>
          <a:ln/>
        </p:spPr>
      </p:sp>
      <p:sp>
        <p:nvSpPr>
          <p:cNvPr id="40" name="Text 36"/>
          <p:cNvSpPr/>
          <p:nvPr/>
        </p:nvSpPr>
        <p:spPr>
          <a:xfrm>
            <a:off x="4846320" y="2322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266944" y="2340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'Open Security Info' in the portal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846320" y="2816352"/>
            <a:ext cx="320040" cy="320040"/>
          </a:xfrm>
          <a:prstGeom prst="ellipse">
            <a:avLst/>
          </a:prstGeom>
          <a:solidFill>
            <a:srgbClr val="8B2FC9"/>
          </a:solidFill>
          <a:ln/>
        </p:spPr>
      </p:sp>
      <p:sp>
        <p:nvSpPr>
          <p:cNvPr id="43" name="Text 39"/>
          <p:cNvSpPr/>
          <p:nvPr/>
        </p:nvSpPr>
        <p:spPr>
          <a:xfrm>
            <a:off x="484632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266944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at aka.ms/mysecurityinfo using your TAP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4846320" y="3310128"/>
            <a:ext cx="320040" cy="320040"/>
          </a:xfrm>
          <a:prstGeom prst="ellipse">
            <a:avLst/>
          </a:prstGeom>
          <a:solidFill>
            <a:srgbClr val="8B2FC9"/>
          </a:solidFill>
          <a:ln/>
        </p:spPr>
      </p:sp>
      <p:sp>
        <p:nvSpPr>
          <p:cNvPr id="46" name="Text 42"/>
          <p:cNvSpPr/>
          <p:nvPr/>
        </p:nvSpPr>
        <p:spPr>
          <a:xfrm>
            <a:off x="484632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266944" y="3328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Add sign-in method → Security key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846320" y="3803904"/>
            <a:ext cx="320040" cy="320040"/>
          </a:xfrm>
          <a:prstGeom prst="ellipse">
            <a:avLst/>
          </a:prstGeom>
          <a:solidFill>
            <a:srgbClr val="8B2FC9"/>
          </a:solidFill>
          <a:ln/>
        </p:spPr>
      </p:sp>
      <p:sp>
        <p:nvSpPr>
          <p:cNvPr id="49" name="Text 45"/>
          <p:cNvSpPr/>
          <p:nvPr/>
        </p:nvSpPr>
        <p:spPr>
          <a:xfrm>
            <a:off x="484632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5266944" y="3822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browser prompts to register your key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709160" y="4069080"/>
            <a:ext cx="4160520" cy="512064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52" name="Text 48"/>
          <p:cNvSpPr/>
          <p:nvPr/>
        </p:nvSpPr>
        <p:spPr>
          <a:xfrm>
            <a:off x="4773168" y="413308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devices:  YubiKey  ·  Google Titan  ·  Windows Hello  ·  Touch ID  ·  Face 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0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Security &amp; Compliance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28016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Compliance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5029200" cy="74980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61872"/>
            <a:ext cx="64008" cy="749808"/>
          </a:xfrm>
          <a:prstGeom prst="rect">
            <a:avLst/>
          </a:prstGeom>
          <a:solidFill>
            <a:srgbClr val="C084F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44475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3167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Secrets in Browser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" y="160934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Secret and JWT Secret are encrypted Cloudflare env vars — the browser never receives them.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130552"/>
            <a:ext cx="5029200" cy="74980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130552"/>
            <a:ext cx="64008" cy="749808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31343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77824" y="218541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Enforced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77824" y="247802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request validates Origin header against ALLOWED_ORIGIN. Cross-origin requests rejected.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2999232"/>
            <a:ext cx="5029200" cy="74980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2999232"/>
            <a:ext cx="64008" cy="749808"/>
          </a:xfrm>
          <a:prstGeom prst="rect">
            <a:avLst/>
          </a:prstGeom>
          <a:solidFill>
            <a:srgbClr val="FDE68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182112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7824" y="30540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Controls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77824" y="334670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expiry, single-use enforced per request. Generated fresh via Microsoft Graph API each time.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3867912"/>
            <a:ext cx="5029200" cy="74980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3867912"/>
            <a:ext cx="64008" cy="749808"/>
          </a:xfrm>
          <a:prstGeom prst="rect">
            <a:avLst/>
          </a:prstGeom>
          <a:solidFill>
            <a:srgbClr val="6EE7B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050792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77824" y="39227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FIDO2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77824" y="421538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keys are cryptographically bound to the specific domain — cannot be replayed on phishing sites.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577840" y="120700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577840" y="1591056"/>
            <a:ext cx="3246120" cy="65836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577840" y="1591056"/>
            <a:ext cx="6400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26"/>
          <p:cNvSpPr/>
          <p:nvPr/>
        </p:nvSpPr>
        <p:spPr>
          <a:xfrm>
            <a:off x="5715000" y="16276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4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ASD ISM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5715000" y="19385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Information Security Manual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577840" y="2359152"/>
            <a:ext cx="3246120" cy="65836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577840" y="2359152"/>
            <a:ext cx="6400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Text 30"/>
          <p:cNvSpPr/>
          <p:nvPr/>
        </p:nvSpPr>
        <p:spPr>
          <a:xfrm>
            <a:off x="5715000" y="23957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4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PSPF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5715000" y="27066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Security Policy Framework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577840" y="3127248"/>
            <a:ext cx="3246120" cy="65836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5577840" y="3127248"/>
            <a:ext cx="6400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0" name="Text 34"/>
          <p:cNvSpPr/>
          <p:nvPr/>
        </p:nvSpPr>
        <p:spPr>
          <a:xfrm>
            <a:off x="5715000" y="31638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4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WCAG 2.1 AA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5715000" y="347472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accessibility compliance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577840" y="3895344"/>
            <a:ext cx="3246120" cy="658368"/>
          </a:xfrm>
          <a:prstGeom prst="rect">
            <a:avLst/>
          </a:prstGeom>
          <a:solidFill>
            <a:srgbClr val="3D0A5A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5577840" y="3895344"/>
            <a:ext cx="64008" cy="6583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4" name="Text 38"/>
          <p:cNvSpPr/>
          <p:nvPr/>
        </p:nvSpPr>
        <p:spPr>
          <a:xfrm>
            <a:off x="5715000" y="39319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4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 Act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5715000" y="42428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handled server-side only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D20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81888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Identity Portal  ·  NDIS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solidFill>
            <a:srgbClr val="4A0E6B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48143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"/>
            <a:ext cx="1097280" cy="246888"/>
          </a:xfrm>
          <a:prstGeom prst="rect">
            <a:avLst>
              <a:gd name="adj" fmla="val 14815"/>
            </a:avLst>
          </a:prstGeom>
          <a:solidFill>
            <a:srgbClr val="8B2FC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544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0E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&amp; Value to NDIS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011680" cy="1207008"/>
          </a:xfrm>
          <a:prstGeom prst="rect">
            <a:avLst/>
          </a:prstGeom>
          <a:solidFill>
            <a:srgbClr val="8B2FC9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188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30s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login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existing users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143000"/>
            <a:ext cx="2011680" cy="1207008"/>
          </a:xfrm>
          <a:prstGeom prst="rect">
            <a:avLst/>
          </a:prstGeom>
          <a:solidFill>
            <a:srgbClr val="6D2077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188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68880" y="17556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exposed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2011680" cy="1207008"/>
          </a:xfrm>
          <a:prstGeom prst="rect">
            <a:avLst/>
          </a:prstGeom>
          <a:solidFill>
            <a:srgbClr val="92400E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188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60min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663440" y="17556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validity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session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1143000"/>
            <a:ext cx="2011680" cy="1207008"/>
          </a:xfrm>
          <a:prstGeom prst="rect">
            <a:avLst/>
          </a:prstGeom>
          <a:solidFill>
            <a:srgbClr val="4A0E6B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1188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58000" y="17556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pathway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14600"/>
            <a:ext cx="64008" cy="914400"/>
          </a:xfrm>
          <a:prstGeom prst="rect">
            <a:avLst/>
          </a:prstGeom>
          <a:solidFill>
            <a:srgbClr val="8B2FC9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770632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96112" y="25694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96112" y="28803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identity verification replaces manual provisioning, cutting onboarding time and reducing administrator workload across the branch.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81728" y="251460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81728" y="2514600"/>
            <a:ext cx="64008" cy="914400"/>
          </a:xfrm>
          <a:prstGeom prst="rect">
            <a:avLst/>
          </a:prstGeom>
          <a:solidFill>
            <a:srgbClr val="6D2077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70632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03520" y="25694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303520" y="288036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and staff enjoy a smooth, accessible onboarding journey with clear step-by-step guidance and immediate visual feedback.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65F46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822192"/>
            <a:ext cx="329184" cy="32918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6112" y="36210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Ecosystem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96112" y="39319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personal email and enabling FIDO2 keys builds a richer, more trusted identity record for every NDIS user in Entra ID.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681728" y="3566160"/>
            <a:ext cx="4160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681728" y="3566160"/>
            <a:ext cx="64008" cy="914400"/>
          </a:xfrm>
          <a:prstGeom prst="rect">
            <a:avLst/>
          </a:prstGeom>
          <a:solidFill>
            <a:srgbClr val="92400E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22192"/>
            <a:ext cx="329184" cy="32918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03520" y="36210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Platform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303520" y="39319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sovereign Australian infrastructure with a MuleSoft integration roadmap — ready to scale to additional identity providers.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0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3200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3D0A5A"/>
          </a:solidFill>
          <a:ln w="12700">
            <a:solidFill>
              <a:srgbClr val="3D0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D0A5A"/>
          </a:solidFill>
          <a:ln w="12700">
            <a:solidFill>
              <a:srgbClr val="3D0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411480"/>
            <a:ext cx="2743200" cy="2743200"/>
          </a:xfrm>
          <a:prstGeom prst="ellipse">
            <a:avLst/>
          </a:prstGeom>
          <a:solidFill>
            <a:srgbClr val="6D207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291840" y="502920"/>
            <a:ext cx="256032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72491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34290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8B4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Discussion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2560320" y="4133088"/>
            <a:ext cx="402336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today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53542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jerrya-byte.github.io/secure-auth-spa  ·  Jerry Aravinthan  ·  Senior IAM Engineer, NDIS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Disability Insurance Scheme  ·  Identity &amp; Access Management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SecureAuth Identity Portal — NDIS</dc:title>
  <dc:subject>PptxGenJS Presentation</dc:subject>
  <dc:creator>Jerry Aravinthan</dc:creator>
  <cp:lastModifiedBy>Jerry Aravinthan</cp:lastModifiedBy>
  <cp:revision>1</cp:revision>
  <dcterms:created xsi:type="dcterms:W3CDTF">2026-04-16T20:27:13Z</dcterms:created>
  <dcterms:modified xsi:type="dcterms:W3CDTF">2026-04-16T20:27:13Z</dcterms:modified>
</cp:coreProperties>
</file>